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2A1A0A"/>
    <a:srgbClr val="6C3F12"/>
    <a:srgbClr val="603810"/>
    <a:srgbClr val="653B11"/>
    <a:srgbClr val="A45404"/>
    <a:srgbClr val="3E240A"/>
    <a:srgbClr val="6B3E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632" y="1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4656-89F7-80EB-2B24-844478637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389C1-AAB5-29CC-7C57-E967F1703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75DCD-C707-CC86-D67D-3F3D5B70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4CFC6-2431-7736-C207-22ED94319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32E03-169F-3028-BCF8-0D0345D2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4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7A81-4B74-87F5-0122-28FCEBF4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D5934-923E-A97E-E759-A92E36ED7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44C9-27D1-0C63-C182-E290DC24D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8ED75-439E-49F2-BB1C-AD1254BB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88BEA-DC61-E228-5AF7-43BC7328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2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1497-B510-A6BD-F5C6-2679328DA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4C4F6-B989-90AD-CACF-1FBA427B5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D2CE6-85AE-11FE-5F07-DF0AFB6A0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C003-705C-F875-A121-067FE8B66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459A-F29D-FB84-A5F4-9F28EEA5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7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E2BE-259B-E022-2CB9-C8F22F19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9A0D-2258-ED63-FDF8-77DB07B21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DF27-5EE0-5987-682A-F77FA39E3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1B208-F0B5-FA40-6BBD-58B82679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B4F4C-A080-5B64-768B-6F9A89A8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F0758-F11E-64BF-C313-1251987E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8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2A75-48EB-7E0B-5731-FEB8E138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89D02-E653-9F6C-FC7A-0109EB07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12004-B1B7-3857-3825-8F1A9CA17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78090-1DD9-8A9B-5101-AA94A5570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2D830-10D4-109F-52A6-2EC626FDB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280E9D-4FFF-5725-8D2B-D8847E1EA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6B6FE-B179-6367-8A29-BB7DBE95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1E44D2-3B74-D06B-3E01-458D99D3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9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B936-5C60-CDA0-4CE4-FDBE793B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93422-E54D-3D84-C004-8AC775BB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82129-5DA6-66F0-9EEF-E6CACE61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B6EEF-F95E-44AE-A576-DF6FB18C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38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A6EA0-979A-0C98-7AB5-43756225C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CE132-FCE6-FD51-DAA3-3873A7F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F0FBD-F6C2-AE95-00BF-7F404A9A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4BE1-926F-E37C-D302-5217FA99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2612B-42BE-A7D5-4559-F6E19F92F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2BC34-1662-82CB-74AA-07F656045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41B05-2C63-06DB-68EE-F366F90E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1B7D4-1DEC-8FFA-060D-BB5511DF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94836-FA91-1F2E-BDF7-D7E4DCA5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3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C562-AB3C-FEB2-222B-D7A89CBB0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17BD6E-5053-44F5-33A7-B4675C1D6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4D29C-20A7-8480-0388-7DFFE6C43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93C57-8734-C6CF-6F05-C0CA9BF2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65F6A-00F7-8603-89BD-79DED69D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BA560-38BC-6F64-4DE9-40004617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3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5955-6537-EA5F-AE19-807A0952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1321E-F54B-995E-4DD0-F3703B763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B3C0F-BCAD-0049-C5B6-4C7A76174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CCAB-7EF7-8DF4-EF51-193066E2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567FE-38DC-09CA-BC21-CAC4D5DA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1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B1CF0D-B566-3FC1-C920-6F2B1559F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949C1-B5AB-8A98-1426-4C421AD8C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67C29-77F2-145A-33AE-ED14C2245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FE895-4D8D-57F7-3B4C-B7C4357C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6B3A4-0851-609D-4236-3FDD9A19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C3BAD-9AB1-449D-7A72-7B1821F8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E2133-8ADF-2FD3-B7EF-B2946C43B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D6211-42D5-B115-7114-A254DA8B7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B453A-17F5-408A-BB76-A5BC80A1EE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A0BA0-F360-69F5-2BD2-9B3ABD56C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40436-3A68-2D02-1A52-A115D347D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723A4-94AA-4D6C-A308-32A776CFC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2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o.dariuss.online/stat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235A-40A1-F566-8E9D-A877C06AF3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B7B56-B7B6-C775-3564-0F45D27E7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 Sofia, Niculescu Izabela, Tona Carla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E1FB1-27AA-0019-1F60-41822B0A9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258" y="0"/>
            <a:ext cx="3043483" cy="304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1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49AC2-2912-EAF3-4FE4-7ADAB8C2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494A-BB60-3391-5742-DA609C900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D4DC1-BCCA-B2E5-87B6-08DF58AD2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AC9B8-0318-9ACA-BA9F-91FC15D5F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401F43B5-B524-A191-FE9A-5FEB3D56CDB8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1C382A80-D7A4-D93E-3BD8-F677033AA954}"/>
              </a:ext>
            </a:extLst>
          </p:cNvPr>
          <p:cNvSpPr/>
          <p:nvPr/>
        </p:nvSpPr>
        <p:spPr>
          <a:xfrm rot="2899004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7DB47931-A1E2-D63A-F692-9D61B7DE3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5D07F2F1-253E-B375-0127-FC8B84C08A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423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DF40D98A-63F0-593B-7876-BD59677336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4238" y="3886935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7653781C-028C-A3EE-68E2-B5E909C466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320C5A-1094-9F54-CAFF-A30D643757F9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856714-272D-69B9-2EE5-8604FA287056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9BF977-F5C2-C205-CFF9-210B4740A3D2}"/>
              </a:ext>
            </a:extLst>
          </p:cNvPr>
          <p:cNvSpPr/>
          <p:nvPr/>
        </p:nvSpPr>
        <p:spPr>
          <a:xfrm>
            <a:off x="5252720" y="2403099"/>
            <a:ext cx="758952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30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85C42-AD02-7017-3865-E119B001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110B4-043C-C41F-EF95-60262228A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1D22E-FCF0-F965-8705-041888ABF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08B73-D678-3801-F12A-B9B38697F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C9B8F992-085A-8D56-0BE1-973EF0B9A289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40C6CD33-22C3-4EA5-328C-2EA3C6A9CE6A}"/>
              </a:ext>
            </a:extLst>
          </p:cNvPr>
          <p:cNvSpPr/>
          <p:nvPr/>
        </p:nvSpPr>
        <p:spPr>
          <a:xfrm rot="5142339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5F0ED5E6-8A0B-D1D6-34CE-68A858232D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822960" cy="82296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981F0ED4-6688-3BD9-95E0-42D298995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423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64AF1937-7074-2268-B5D3-7C3C8407E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4238" y="3886935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98362192-69CB-F4FE-20CC-96D33E257A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7E77FF-1EF0-BBA2-24E0-7937DCF8539E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rgbClr val="FFF2CC"/>
                </a:solidFill>
                <a:latin typeface="Playfair Display" pitchFamily="2" charset="0"/>
              </a:rPr>
              <a:t>Evolutie</a:t>
            </a:r>
            <a:endParaRPr lang="en-US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B9F64F-8E67-9794-59D1-DBC2097A1F38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1.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8DFA9E-20CC-40CB-5427-F1BBE27FCEC1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7362D-31D1-08AC-9B45-31CF89EF9CD6}"/>
              </a:ext>
            </a:extLst>
          </p:cNvPr>
          <p:cNvSpPr txBox="1"/>
          <p:nvPr/>
        </p:nvSpPr>
        <p:spPr>
          <a:xfrm>
            <a:off x="5803900" y="2584014"/>
            <a:ext cx="63550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primii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doi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ani,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vânzările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nu au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fost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foarte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numeroase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,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iar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veniturile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noastre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au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fost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la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fel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de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mici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. Am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reușit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vindem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aceștia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800 de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produse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,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păstrându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-ne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locația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din Auchan. 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restul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anilor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,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vânzările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au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crescut,iar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 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prezent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are 22 de magazine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tot 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Bucureștiul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.</a:t>
            </a:r>
            <a:endParaRPr lang="en-US" b="0" dirty="0">
              <a:solidFill>
                <a:srgbClr val="FFF2CC"/>
              </a:solidFill>
              <a:effectLst/>
              <a:latin typeface="Playfair Display" pitchFamily="2" charset="0"/>
            </a:endParaRPr>
          </a:p>
          <a:p>
            <a:pPr algn="ctr"/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   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2022,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avea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1,000 de euro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venituri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lunare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.</a:t>
            </a:r>
            <a:br>
              <a:rPr lang="en-US" b="1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prezent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,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are 200,000 de euro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venituri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lunare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.</a:t>
            </a:r>
            <a:endParaRPr lang="en-US" b="0" dirty="0">
              <a:solidFill>
                <a:srgbClr val="FFF2CC"/>
              </a:solidFill>
              <a:effectLst/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164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0155F-DCA6-7D4E-87E4-2E0211E8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CE19-DCE9-15A9-4012-1B7EC3D6E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DC53B-6D4F-9999-911C-CC4A3E684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70FFF-4A1E-6BF9-B83A-08D8BA465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DC379812-C3EE-F489-DCF7-7F7AF89936AD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8306C192-6C20-70EB-493F-C01DA09D24E0}"/>
              </a:ext>
            </a:extLst>
          </p:cNvPr>
          <p:cNvSpPr/>
          <p:nvPr/>
        </p:nvSpPr>
        <p:spPr>
          <a:xfrm rot="5142339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E9FC23A7-D9C7-BFAF-67B6-59C4EEAF2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822960" cy="82296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EE5EDBD2-B459-3894-EBEE-9CC8C6DD5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423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14F092E9-E19A-F2D0-65AA-42E5B3452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4238" y="3886935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67D2B630-3ADE-3475-2F1B-22FB73283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598F29-D89B-590F-3C51-663C1E0E04F5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rgbClr val="FFF2CC"/>
                </a:solidFill>
                <a:latin typeface="Playfair Display" pitchFamily="2" charset="0"/>
              </a:rPr>
              <a:t>Evolutie</a:t>
            </a:r>
            <a:endParaRPr lang="en-US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64C041-CAEC-19F0-C52B-6003C97D3FB3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1.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679A48-BEAD-7A3E-5F7B-525658FFC3F0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8A09F-E043-3F5E-8870-F2A24488102C}"/>
              </a:ext>
            </a:extLst>
          </p:cNvPr>
          <p:cNvSpPr txBox="1"/>
          <p:nvPr/>
        </p:nvSpPr>
        <p:spPr>
          <a:xfrm>
            <a:off x="5864860" y="2773939"/>
            <a:ext cx="6355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anii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2024,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respectiv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2025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vânzările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au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scăzut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destul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de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mult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astfel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încat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am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decis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să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aducem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multe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variante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de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accesorii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,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sperând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că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acestea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să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ne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refacă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venitul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. </a:t>
            </a:r>
            <a:endParaRPr lang="en-US" b="0" dirty="0">
              <a:solidFill>
                <a:srgbClr val="FFF2CC"/>
              </a:solidFill>
              <a:effectLst/>
              <a:latin typeface="Playfair Display" pitchFamily="2" charset="0"/>
            </a:endParaRPr>
          </a:p>
          <a:p>
            <a:pPr algn="ctr"/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 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Având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o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gama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diversă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de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produse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făcut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ca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profitul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nostru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să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ajungă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la un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nivel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mult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mare ,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astfel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acesta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ajuns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să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fie de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aproximativ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21.000 de euro pe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fiecare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luna.</a:t>
            </a:r>
            <a:endParaRPr lang="en-US" b="0" dirty="0">
              <a:solidFill>
                <a:srgbClr val="FFF2CC"/>
              </a:solidFill>
              <a:effectLst/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6589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C9A48-7748-AB26-3D62-1B25119B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D2AF5-7256-53CB-3C55-5483B4E20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98ECE-DA18-B29B-F436-9256F0B36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8243F-CEAE-7EAA-C7DC-97ABCEE33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8107910C-84BF-0411-6B81-FDB18182B7A7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A912270B-285A-C5E3-C1C8-E51698209928}"/>
              </a:ext>
            </a:extLst>
          </p:cNvPr>
          <p:cNvSpPr/>
          <p:nvPr/>
        </p:nvSpPr>
        <p:spPr>
          <a:xfrm rot="5142339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649FF9CB-3546-519E-5CA4-E75153E25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822960" cy="82296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4D5592A8-0039-FA4D-6185-02CDEE7BF1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423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B82001E7-9CFC-BE55-8828-B13C5F59A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4238" y="3886935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2313E51F-EAF4-65F6-8491-6227D0E33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01E1CD8-0398-EFCC-B72C-0D94A32F721C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rgbClr val="FFF2CC"/>
                </a:solidFill>
                <a:latin typeface="Playfair Display" pitchFamily="2" charset="0"/>
              </a:rPr>
              <a:t>Evolutie</a:t>
            </a:r>
            <a:endParaRPr lang="en-US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D97716-78EA-37A7-2C38-41B97C2E1830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1.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31FD55E-1E14-4957-02C4-2C8CDE5D4BA3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EE4D6-9580-68C6-F7CB-0DA91166B2CD}"/>
              </a:ext>
            </a:extLst>
          </p:cNvPr>
          <p:cNvSpPr txBox="1"/>
          <p:nvPr/>
        </p:nvSpPr>
        <p:spPr>
          <a:xfrm>
            <a:off x="5864860" y="2544337"/>
            <a:ext cx="63550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Avand un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buget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mare am ales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imbunatatim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calitatea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materialelor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folosite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pentru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producerea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gentilor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sau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ghiozdanelor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. Am ales un material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calitativ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durabil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.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Deoarece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poluarea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este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un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fenomen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care are un impact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puternic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asupra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mediului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, am ales ca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materialele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noastre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fie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reciclabile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in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acelasi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timp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pentru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ajuta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mediul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.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Aceasta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idee 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facut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ca un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numar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mare de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persoane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cumpere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de la Vesta Bags.</a:t>
            </a:r>
            <a:endParaRPr lang="en-US" b="0" dirty="0">
              <a:solidFill>
                <a:srgbClr val="FFF2CC"/>
              </a:solidFill>
              <a:effectLst/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350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87BD1-E3FB-C505-9FB6-A0624E69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2D0C-2897-F094-A045-9D8A00EEA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3837E-C269-6A60-8323-A6C8142A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EB884B-48C6-0509-1AE3-EAA2F6B17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2C25BDFD-DFEF-7F77-18E3-EFB450BEB88D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40688264-BF89-5460-026B-D9BE365A174B}"/>
              </a:ext>
            </a:extLst>
          </p:cNvPr>
          <p:cNvSpPr/>
          <p:nvPr/>
        </p:nvSpPr>
        <p:spPr>
          <a:xfrm rot="5142339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DA8DB8B1-B56D-EFB9-D0E7-33BE4769FC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822960" cy="82296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385B1037-8ED4-8991-7A1F-3317924E0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423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627500A3-E650-44AA-6F92-A45128026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4238" y="3886935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326BF0D8-4F1B-D755-E177-DCE2F4F34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005DBA0-56DB-D53A-EC96-AEA690E80E30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rgbClr val="FFF2CC"/>
                </a:solidFill>
                <a:latin typeface="Playfair Display" pitchFamily="2" charset="0"/>
              </a:rPr>
              <a:t>Evolutie</a:t>
            </a:r>
            <a:endParaRPr lang="en-US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0A6DF7-4D70-35AA-5DC5-56452C8BDF2B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1.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B906A5-4EAB-91FF-5FDE-A740E47EB990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6AB72-CDD6-9B9B-9EB2-FC78A29AB66F}"/>
              </a:ext>
            </a:extLst>
          </p:cNvPr>
          <p:cNvSpPr txBox="1"/>
          <p:nvPr/>
        </p:nvSpPr>
        <p:spPr>
          <a:xfrm>
            <a:off x="5864860" y="2682836"/>
            <a:ext cx="63550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In 2032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veniturile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noatre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au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crescut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cu 50% fata de 2030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ceea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ajutat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la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dezvoltarea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noilor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proiecte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cum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fi 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colaborarea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cu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branduri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mari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.</a:t>
            </a:r>
            <a:endParaRPr lang="en-US" b="0" dirty="0">
              <a:solidFill>
                <a:srgbClr val="FFF2CC"/>
              </a:solidFill>
              <a:effectLst/>
              <a:latin typeface="Playfair Display" pitchFamily="2" charset="0"/>
            </a:endParaRPr>
          </a:p>
          <a:p>
            <a:pPr algn="ctr"/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 La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finalul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anului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2032 am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reusit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ne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construim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magazine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transportam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in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alte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tari ,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acestea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fiind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deocamdata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6 la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numar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: Serbia , Grecia, Bulgaria, Italia, Franta, Spania.</a:t>
            </a:r>
            <a:endParaRPr lang="en-US" b="0" dirty="0">
              <a:solidFill>
                <a:srgbClr val="FFF2CC"/>
              </a:solidFill>
              <a:effectLst/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511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B669F-FA4F-D8C8-501A-AD191C50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74E88-FD13-10AC-640F-3C33257B9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07C80-725E-788F-B08C-9223E0CD4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AE978-252E-D493-1F41-86EFC64BA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AE66D55B-92AE-86E5-7222-6952A3DD6AAE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3A1EC909-9E68-C0B4-D5DC-D12A26E022D3}"/>
              </a:ext>
            </a:extLst>
          </p:cNvPr>
          <p:cNvSpPr/>
          <p:nvPr/>
        </p:nvSpPr>
        <p:spPr>
          <a:xfrm rot="7466466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A42AFEB5-0D10-B24E-5557-FA867062A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17666A9B-88CF-7789-B9E5-C00A2B116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822960" cy="82296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720843A6-FC26-2857-B3A4-C9C4CB6513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4238" y="3886935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2B6D81D1-211B-8E88-4B26-9CBC0D87FD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430C457-4D66-3ACE-9C3A-8659E4A66A79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rgbClr val="FFF2CC"/>
                </a:solidFill>
                <a:latin typeface="Playfair Display" pitchFamily="2" charset="0"/>
              </a:rPr>
              <a:t>Locatii</a:t>
            </a:r>
            <a:endParaRPr lang="en-US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1F7643-D9E3-CF9C-428D-1DCCE4BA491E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2.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A080B99-E316-CA31-22E8-40DDA7A25247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6341B-DD10-8286-80E6-A15116FED824}"/>
              </a:ext>
            </a:extLst>
          </p:cNvPr>
          <p:cNvSpPr txBox="1"/>
          <p:nvPr/>
        </p:nvSpPr>
        <p:spPr>
          <a:xfrm>
            <a:off x="5864860" y="2403099"/>
            <a:ext cx="63550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Tx/>
              <a:buChar char="-"/>
            </a:pP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Bucuresti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; 7</a:t>
            </a:r>
          </a:p>
          <a:p>
            <a:pPr marL="285750" indent="-285750" algn="ctr">
              <a:buFontTx/>
              <a:buChar char="-"/>
            </a:pPr>
            <a:r>
              <a:rPr lang="en-US" b="1" dirty="0">
                <a:solidFill>
                  <a:srgbClr val="FFF2CC"/>
                </a:solidFill>
                <a:effectLst/>
                <a:latin typeface="Playfair Display" pitchFamily="2" charset="0"/>
              </a:rPr>
              <a:t>Cluj </a:t>
            </a:r>
            <a:r>
              <a:rPr lang="en-US" b="1" dirty="0" err="1">
                <a:solidFill>
                  <a:srgbClr val="FFF2CC"/>
                </a:solidFill>
                <a:effectLst/>
                <a:latin typeface="Playfair Display" pitchFamily="2" charset="0"/>
              </a:rPr>
              <a:t>Napoca</a:t>
            </a:r>
            <a:r>
              <a:rPr lang="en-US" b="1" dirty="0">
                <a:solidFill>
                  <a:srgbClr val="FFF2CC"/>
                </a:solidFill>
                <a:effectLst/>
                <a:latin typeface="Playfair Display" pitchFamily="2" charset="0"/>
              </a:rPr>
              <a:t> ; 3</a:t>
            </a:r>
          </a:p>
          <a:p>
            <a:pPr marL="285750" indent="-285750" algn="ctr">
              <a:buFontTx/>
              <a:buChar char="-"/>
            </a:pP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Belgrad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 (Serbia) ; 2</a:t>
            </a:r>
          </a:p>
          <a:p>
            <a:pPr marL="285750" indent="-285750" algn="ctr">
              <a:buFontTx/>
              <a:buChar char="-"/>
            </a:pPr>
            <a:r>
              <a:rPr lang="en-US" b="1" dirty="0">
                <a:solidFill>
                  <a:srgbClr val="FFF2CC"/>
                </a:solidFill>
                <a:effectLst/>
                <a:latin typeface="Playfair Display" pitchFamily="2" charset="0"/>
              </a:rPr>
              <a:t>Atena (Grecia) ; 3</a:t>
            </a:r>
          </a:p>
          <a:p>
            <a:pPr marL="285750" indent="-285750" algn="ctr">
              <a:buFontTx/>
              <a:buChar char="-"/>
            </a:pP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Sofia (Bulgaria) ; 1</a:t>
            </a:r>
            <a:endParaRPr lang="en-US" dirty="0">
              <a:solidFill>
                <a:srgbClr val="FFF2CC"/>
              </a:solidFill>
              <a:latin typeface="Playfair Display" pitchFamily="2" charset="0"/>
            </a:endParaRPr>
          </a:p>
          <a:p>
            <a:pPr marL="285750" indent="-285750" algn="ctr">
              <a:buFontTx/>
              <a:buChar char="-"/>
            </a:pP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Roma (Italia) ; 2</a:t>
            </a:r>
          </a:p>
          <a:p>
            <a:pPr marL="285750" indent="-285750" algn="ctr">
              <a:buFontTx/>
              <a:buChar char="-"/>
            </a:pP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Paris (Franta) ; 3</a:t>
            </a:r>
          </a:p>
          <a:p>
            <a:pPr marL="285750" indent="-285750" algn="ctr">
              <a:buFontTx/>
              <a:buChar char="-"/>
            </a:pP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Madrid (Spania) ; 1</a:t>
            </a:r>
          </a:p>
          <a:p>
            <a:pPr marL="285750" indent="-285750" algn="ctr">
              <a:buFontTx/>
              <a:buChar char="-"/>
            </a:pP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Sediu</a:t>
            </a:r>
            <a:r>
              <a:rPr lang="en-US" b="1" dirty="0">
                <a:solidFill>
                  <a:srgbClr val="FFF2CC"/>
                </a:solidFill>
                <a:latin typeface="Playfair Display" pitchFamily="2" charset="0"/>
              </a:rPr>
              <a:t>: </a:t>
            </a:r>
            <a:r>
              <a:rPr lang="en-US" b="1" dirty="0" err="1">
                <a:solidFill>
                  <a:srgbClr val="FFF2CC"/>
                </a:solidFill>
                <a:latin typeface="Playfair Display" pitchFamily="2" charset="0"/>
              </a:rPr>
              <a:t>Bucuresti</a:t>
            </a:r>
            <a:endParaRPr lang="en-US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886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7B7E8-A2E4-7953-B233-30E41E9F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A3B-058B-32A0-5775-E92CC3744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DD70F-2FB4-F0B6-60D0-006956261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90ED3-67E4-C64A-2F6D-D68FF64EB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1E1095E4-2AEF-72FE-EFB9-2F8B908783A8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28D4E067-B8D5-4AAE-3901-D6E2CF7DF0AE}"/>
              </a:ext>
            </a:extLst>
          </p:cNvPr>
          <p:cNvSpPr/>
          <p:nvPr/>
        </p:nvSpPr>
        <p:spPr>
          <a:xfrm rot="11051463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749EF118-7C0B-8E57-2FBC-63ED0737E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63DDD0FE-5A3D-BBDD-9054-6BFFB4364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11FB8361-CA14-FA88-2D70-BE0AC5F19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518" y="3832989"/>
            <a:ext cx="822960" cy="82296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DD8A689C-AEB0-8062-DDE0-FC33E8E89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87C250-052C-DB78-304D-5404956FA692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Venit lunar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B6C28F-D072-B27B-2FB0-7B3A1764C902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3.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F95CEC-21B9-811D-0781-3B0656B917F0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A1924-EF3C-AF93-E322-037233880C0E}"/>
              </a:ext>
            </a:extLst>
          </p:cNvPr>
          <p:cNvSpPr txBox="1"/>
          <p:nvPr/>
        </p:nvSpPr>
        <p:spPr>
          <a:xfrm>
            <a:off x="5864860" y="3190668"/>
            <a:ext cx="63550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F2CC"/>
                </a:solidFill>
                <a:latin typeface="Playfair Display" pitchFamily="2" charset="0"/>
              </a:rPr>
              <a:t>Salariu</a:t>
            </a: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 = 4000 lei / </a:t>
            </a:r>
            <a:r>
              <a:rPr lang="en-US" sz="2800" dirty="0" err="1">
                <a:solidFill>
                  <a:srgbClr val="FFF2CC"/>
                </a:solidFill>
                <a:latin typeface="Playfair Display" pitchFamily="2" charset="0"/>
              </a:rPr>
              <a:t>angajat</a:t>
            </a:r>
            <a:b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→ 264.000 lei / luna</a:t>
            </a:r>
            <a:endParaRPr lang="en-US" sz="28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E33491-D98F-716B-70DD-81D373846AD2}"/>
              </a:ext>
            </a:extLst>
          </p:cNvPr>
          <p:cNvSpPr/>
          <p:nvPr/>
        </p:nvSpPr>
        <p:spPr>
          <a:xfrm>
            <a:off x="9479280" y="1411664"/>
            <a:ext cx="2021840" cy="539056"/>
          </a:xfrm>
          <a:prstGeom prst="rect">
            <a:avLst/>
          </a:prstGeom>
          <a:solidFill>
            <a:srgbClr val="2A1A0A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748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80D5B-E325-E624-27BB-AF0FAB09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08AF6-851D-5078-5844-CA7FB5705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41F29-D546-C6E9-EB66-2326C6C9B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AFB15-7387-564D-BAF9-BF5AA3D4F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EBD7DF10-490E-4BEA-39DC-8C4F3891C2FA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3A37DD82-F9A6-10D3-C904-B5675010D345}"/>
              </a:ext>
            </a:extLst>
          </p:cNvPr>
          <p:cNvSpPr/>
          <p:nvPr/>
        </p:nvSpPr>
        <p:spPr>
          <a:xfrm rot="11051463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2EDABD60-2FB2-B5D7-7E28-FC960E01E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C491ABE1-F352-F03A-9455-97B14657A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F2F5AF26-F255-1003-5205-DA0AF6A1B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518" y="3832989"/>
            <a:ext cx="822960" cy="82296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A80C5FDF-6270-7DCF-56C2-BAA449291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99DCC5-5F18-A057-3068-F7F75142177C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Venit lunar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42C9B4-A726-1135-CAD7-F7341395460E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3.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03F824B-F7A4-B076-988A-FDFE4E1FF9CE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68D99B-96DF-9A5C-1561-9C6910794273}"/>
              </a:ext>
            </a:extLst>
          </p:cNvPr>
          <p:cNvSpPr txBox="1"/>
          <p:nvPr/>
        </p:nvSpPr>
        <p:spPr>
          <a:xfrm>
            <a:off x="5864860" y="3006001"/>
            <a:ext cx="63550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F2CC"/>
                </a:solidFill>
                <a:latin typeface="Playfair Display" pitchFamily="2" charset="0"/>
              </a:rPr>
              <a:t>Utilitati</a:t>
            </a: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 = 500 lei / </a:t>
            </a:r>
            <a:r>
              <a:rPr lang="en-US" sz="2800" dirty="0" err="1">
                <a:solidFill>
                  <a:srgbClr val="FFF2CC"/>
                </a:solidFill>
                <a:latin typeface="Playfair Display" pitchFamily="2" charset="0"/>
              </a:rPr>
              <a:t>magazin</a:t>
            </a: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 x 22 magazine</a:t>
            </a:r>
            <a:b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→ 11.000 lei / luna</a:t>
            </a:r>
            <a:endParaRPr lang="en-US" sz="28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EA55DB-8F8D-CD4D-1C0D-DB2F14B82CA2}"/>
              </a:ext>
            </a:extLst>
          </p:cNvPr>
          <p:cNvSpPr/>
          <p:nvPr/>
        </p:nvSpPr>
        <p:spPr>
          <a:xfrm>
            <a:off x="9479280" y="1411664"/>
            <a:ext cx="2021840" cy="539056"/>
          </a:xfrm>
          <a:prstGeom prst="rect">
            <a:avLst/>
          </a:prstGeom>
          <a:solidFill>
            <a:srgbClr val="2A1A0A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6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14952-1743-A5C5-5D71-CB5BD467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0095-932C-59AB-F1E0-461D17E11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10057-5627-EBC0-3375-42EF51361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8B93D-5E74-066D-C3CF-6DDD1CD99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FD96E9F5-CC0E-3D7B-10D7-E4A841106AEF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3BFD0E77-451A-FB2B-91AD-0D1F4598D000}"/>
              </a:ext>
            </a:extLst>
          </p:cNvPr>
          <p:cNvSpPr/>
          <p:nvPr/>
        </p:nvSpPr>
        <p:spPr>
          <a:xfrm rot="11051463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1BBD64EF-316E-18F4-DF6D-31A588E079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F887C364-1645-AB28-A8FA-5A279C389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6DBBDAA8-B8CE-9CB0-53EC-DA70C6DAA6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518" y="3832989"/>
            <a:ext cx="822960" cy="82296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5A00AACF-F8F9-7E2F-0723-CA9F27998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DECE6B-2BB1-ABF9-CE0C-BA861AFAE8CB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Venit lunar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286E20E-CA6C-80F2-53C8-4934C875D774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3.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F2C68E-63CF-A3CE-2AE8-AC83485B8D2D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333399-0F33-FE85-BE0C-A9F1EC4DC3BE}"/>
              </a:ext>
            </a:extLst>
          </p:cNvPr>
          <p:cNvSpPr txBox="1"/>
          <p:nvPr/>
        </p:nvSpPr>
        <p:spPr>
          <a:xfrm>
            <a:off x="5864860" y="3221445"/>
            <a:ext cx="63550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F2CC"/>
                </a:solidFill>
                <a:latin typeface="Playfair Display" pitchFamily="2" charset="0"/>
              </a:rPr>
              <a:t>Ambalare</a:t>
            </a: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, transport </a:t>
            </a:r>
            <a:r>
              <a:rPr lang="en-US" sz="2800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800" dirty="0" err="1">
                <a:solidFill>
                  <a:srgbClr val="FFF2CC"/>
                </a:solidFill>
                <a:latin typeface="Playfair Display" pitchFamily="2" charset="0"/>
              </a:rPr>
              <a:t>fabricare</a:t>
            </a:r>
            <a:b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→ ~16.000 lei / luna</a:t>
            </a:r>
            <a:endParaRPr lang="en-US" sz="28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DBED5-A9AF-9FFC-EAB3-9ED6646DC06F}"/>
              </a:ext>
            </a:extLst>
          </p:cNvPr>
          <p:cNvSpPr/>
          <p:nvPr/>
        </p:nvSpPr>
        <p:spPr>
          <a:xfrm>
            <a:off x="9479280" y="1411664"/>
            <a:ext cx="2021840" cy="539056"/>
          </a:xfrm>
          <a:prstGeom prst="rect">
            <a:avLst/>
          </a:prstGeom>
          <a:solidFill>
            <a:srgbClr val="2A1A0A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90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4B889-3B0F-2CEC-EF0F-B1F34CCE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53F08-99DD-BC7E-DB0D-0C44023DD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66C2A-D223-E38E-460E-ADA519BA8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C3FD0-F197-DD24-48B5-2C9879565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5DC8DC61-052C-5715-9E8B-FA45EBC5660B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F4E9B468-EEB0-E1AC-551B-231BA50F96AD}"/>
              </a:ext>
            </a:extLst>
          </p:cNvPr>
          <p:cNvSpPr/>
          <p:nvPr/>
        </p:nvSpPr>
        <p:spPr>
          <a:xfrm rot="11051463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AE2AE0E0-ED3D-DFF3-8825-C3E6CE478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06DFA6D7-B8AC-DC86-2C74-64A48BD86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A69BCBA7-BF33-5503-A1C0-CF593FA5F1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518" y="3832989"/>
            <a:ext cx="822960" cy="82296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0870E334-182C-FC9B-98AD-CF291218A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384426-ECDF-6DF2-D46D-73A54E87C65E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Venit lunar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3B0E00-4D21-0DAA-572D-92972BC0F925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3.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0E5B4FA-274D-F6C4-FC57-28BAC9FE6A51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DB16D-B03E-91A0-A5DC-A15331C80BED}"/>
              </a:ext>
            </a:extLst>
          </p:cNvPr>
          <p:cNvSpPr txBox="1"/>
          <p:nvPr/>
        </p:nvSpPr>
        <p:spPr>
          <a:xfrm>
            <a:off x="5864860" y="3221445"/>
            <a:ext cx="63550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Total </a:t>
            </a:r>
            <a:r>
              <a:rPr lang="en-US" sz="28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 = 291.000 lei / luna</a:t>
            </a:r>
            <a:b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Total </a:t>
            </a:r>
            <a:r>
              <a:rPr lang="en-US" sz="28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 / an = 3.492.000 lei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58723B-46AC-43D3-088F-7B8BB132D895}"/>
              </a:ext>
            </a:extLst>
          </p:cNvPr>
          <p:cNvSpPr/>
          <p:nvPr/>
        </p:nvSpPr>
        <p:spPr>
          <a:xfrm>
            <a:off x="9479280" y="1411664"/>
            <a:ext cx="2021840" cy="539056"/>
          </a:xfrm>
          <a:prstGeom prst="rect">
            <a:avLst/>
          </a:prstGeom>
          <a:solidFill>
            <a:srgbClr val="2A1A0A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6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28A39-0DD1-1181-DB79-CD7F1FA9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41A0-06C0-C41E-A782-F8E9E1EE7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E0AB8-965F-1523-3D4B-6D227FAE8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CB196-CB1D-D4A0-B630-A3D0C5AAC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F64D9D1A-B777-2779-A10A-4E8D1F445367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D519688B-D88F-2997-0360-7D90AFA159B4}"/>
              </a:ext>
            </a:extLst>
          </p:cNvPr>
          <p:cNvSpPr/>
          <p:nvPr/>
        </p:nvSpPr>
        <p:spPr>
          <a:xfrm rot="11051463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866E83E6-99F8-2D25-7716-C67727ADB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D84A154C-14F7-109B-F2E9-139B60CCC2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A508BEFC-C615-7F06-9108-4AC241968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518" y="3832989"/>
            <a:ext cx="822960" cy="82296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3E0A9006-E9E3-BDE9-AE99-AA01D0689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90FA303-CF69-4BA5-FA84-55EAB1D25F55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Venit lunar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5655402-72D8-A4C2-73F4-D042896FA57D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3.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42DEC63-8EDA-A073-642C-FD53070C98F3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7CB3C-D45C-CF72-EB5A-3974DA993442}"/>
              </a:ext>
            </a:extLst>
          </p:cNvPr>
          <p:cNvSpPr txBox="1"/>
          <p:nvPr/>
        </p:nvSpPr>
        <p:spPr>
          <a:xfrm>
            <a:off x="5674443" y="2636412"/>
            <a:ext cx="63550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~ 30 </a:t>
            </a:r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genti</a:t>
            </a: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 Aria Tote</a:t>
            </a:r>
            <a:br>
              <a:rPr lang="en-US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→ 36.000 lei</a:t>
            </a:r>
          </a:p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~ 15 </a:t>
            </a:r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genti</a:t>
            </a: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 Luna Clutch</a:t>
            </a:r>
            <a:br>
              <a:rPr lang="en-US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→ 11.250 lei</a:t>
            </a:r>
          </a:p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~ 18 </a:t>
            </a:r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rucsacuri</a:t>
            </a: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 Sofia Mini</a:t>
            </a:r>
            <a:br>
              <a:rPr lang="en-US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→ 16.020 lei</a:t>
            </a:r>
          </a:p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~ 12 </a:t>
            </a:r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genti</a:t>
            </a: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 Vesta </a:t>
            </a:r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Clasic</a:t>
            </a:r>
            <a:br>
              <a:rPr lang="en-US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→ 15.000 lei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F2DBC9-6480-7A73-A185-A0C2D899BD7F}"/>
              </a:ext>
            </a:extLst>
          </p:cNvPr>
          <p:cNvSpPr/>
          <p:nvPr/>
        </p:nvSpPr>
        <p:spPr>
          <a:xfrm>
            <a:off x="6543040" y="1411664"/>
            <a:ext cx="2468880" cy="539056"/>
          </a:xfrm>
          <a:prstGeom prst="rect">
            <a:avLst/>
          </a:prstGeom>
          <a:solidFill>
            <a:srgbClr val="2A1A0A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1C1400-5CBF-02E1-4A80-24C09983C030}"/>
              </a:ext>
            </a:extLst>
          </p:cNvPr>
          <p:cNvSpPr txBox="1"/>
          <p:nvPr/>
        </p:nvSpPr>
        <p:spPr>
          <a:xfrm>
            <a:off x="9182218" y="2596536"/>
            <a:ext cx="234230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~ 9 </a:t>
            </a:r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serviete</a:t>
            </a: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 Atlas</a:t>
            </a:r>
            <a:br>
              <a:rPr lang="en-US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→ 16.200 lei</a:t>
            </a:r>
          </a:p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~ 13 </a:t>
            </a:r>
            <a:r>
              <a:rPr lang="en-US" dirty="0" err="1">
                <a:solidFill>
                  <a:srgbClr val="FFF2CC"/>
                </a:solidFill>
                <a:latin typeface="Playfair Display" pitchFamily="2" charset="0"/>
              </a:rPr>
              <a:t>rucsacuri</a:t>
            </a: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 Marco</a:t>
            </a:r>
            <a:br>
              <a:rPr lang="en-US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→ 17.550 lei</a:t>
            </a:r>
          </a:p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~ 10 Nero Messenger</a:t>
            </a:r>
            <a:br>
              <a:rPr lang="en-US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→ 9.700 lei</a:t>
            </a:r>
          </a:p>
          <a:p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~ 10 Duke Duffel</a:t>
            </a:r>
            <a:br>
              <a:rPr lang="en-US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dirty="0">
                <a:solidFill>
                  <a:srgbClr val="FFF2CC"/>
                </a:solidFill>
                <a:latin typeface="Playfair Display" pitchFamily="2" charset="0"/>
              </a:rPr>
              <a:t>→ 21.000 lei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596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9EDBD-BFF2-96B0-FE04-67A5009A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ECBD-A96B-31D4-BD4A-C23C18632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C3BEC-9EF2-1B31-F2CA-A9893ABF7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F5422-14FF-0AFD-6059-E38E864C4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942E2108-E925-0619-A31D-9897056367FE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FCDFE833-9702-A85E-3D7A-7F7691A17E25}"/>
              </a:ext>
            </a:extLst>
          </p:cNvPr>
          <p:cNvSpPr/>
          <p:nvPr/>
        </p:nvSpPr>
        <p:spPr>
          <a:xfrm rot="11051463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ABCABFB3-A76A-E4D6-2574-9EB7BF8B8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C48CE583-EAD5-3B99-5112-BAD6AF127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AEE31F29-6472-3F5C-559E-70235D74C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518" y="3832989"/>
            <a:ext cx="822960" cy="82296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127ABBEC-A6D4-7EE2-3485-F60D5215E1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A1B7FC5-B93B-6E14-D3B9-04773D57931C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Venit lunar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3745114-787C-5D1C-C01E-B0F2CED764F5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3.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9B8B57-B7FE-DD13-A56E-B4453C432F9E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27EA1-72AD-E14A-C595-2DCC894E2796}"/>
              </a:ext>
            </a:extLst>
          </p:cNvPr>
          <p:cNvSpPr txBox="1"/>
          <p:nvPr/>
        </p:nvSpPr>
        <p:spPr>
          <a:xfrm>
            <a:off x="5803900" y="2575114"/>
            <a:ext cx="6355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Total </a:t>
            </a:r>
            <a:r>
              <a:rPr lang="en-US" sz="2800" b="1" dirty="0" err="1">
                <a:solidFill>
                  <a:srgbClr val="FFF2CC"/>
                </a:solidFill>
                <a:latin typeface="Playfair Display" pitchFamily="2" charset="0"/>
              </a:rPr>
              <a:t>venituri</a:t>
            </a:r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 site = 142.720 lei / luna</a:t>
            </a:r>
            <a:b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→ 1.712.640 lei / an</a:t>
            </a:r>
          </a:p>
          <a:p>
            <a:pPr algn="ctr"/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Total </a:t>
            </a:r>
            <a:r>
              <a:rPr lang="en-US" sz="2800" b="1" dirty="0" err="1">
                <a:solidFill>
                  <a:srgbClr val="FFF2CC"/>
                </a:solidFill>
                <a:latin typeface="Playfair Display" pitchFamily="2" charset="0"/>
              </a:rPr>
              <a:t>venituri</a:t>
            </a:r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 magazine </a:t>
            </a:r>
            <a:r>
              <a:rPr lang="en-US" sz="2800" b="1" dirty="0" err="1">
                <a:solidFill>
                  <a:srgbClr val="FFF2CC"/>
                </a:solidFill>
                <a:latin typeface="Playfair Display" pitchFamily="2" charset="0"/>
              </a:rPr>
              <a:t>fizice</a:t>
            </a:r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 ~ 310.100 lei / luna</a:t>
            </a:r>
            <a:b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</a:br>
            <a:r>
              <a:rPr lang="en-US" sz="2800" dirty="0">
                <a:solidFill>
                  <a:srgbClr val="FFF2CC"/>
                </a:solidFill>
                <a:latin typeface="Playfair Display" pitchFamily="2" charset="0"/>
              </a:rPr>
              <a:t>→ 3.721.200 lei / 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8B274C-90C5-2BCF-7DA8-6E3EDC5E668D}"/>
              </a:ext>
            </a:extLst>
          </p:cNvPr>
          <p:cNvSpPr/>
          <p:nvPr/>
        </p:nvSpPr>
        <p:spPr>
          <a:xfrm>
            <a:off x="6543040" y="1411664"/>
            <a:ext cx="2468880" cy="539056"/>
          </a:xfrm>
          <a:prstGeom prst="rect">
            <a:avLst/>
          </a:prstGeom>
          <a:solidFill>
            <a:srgbClr val="2A1A0A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66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74C98-EED4-D02F-871C-34D19CDB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FF8A-0033-2F08-1083-3A0A8C81A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6BEBB-9635-C907-1B3D-4CE47C817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437AF-3CCD-80D0-08BF-F638C445D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5F8B7BE9-B637-7A26-A381-037BAB1D8BF1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52F87747-617C-D1B3-9C9F-460E9AE75389}"/>
              </a:ext>
            </a:extLst>
          </p:cNvPr>
          <p:cNvSpPr/>
          <p:nvPr/>
        </p:nvSpPr>
        <p:spPr>
          <a:xfrm rot="11051463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6D518A5C-60D1-A943-EDE5-E8A3070979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A095B098-7574-337D-6E83-9254E9E9D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611E4923-C715-2064-7AFA-8162A99183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518" y="3832989"/>
            <a:ext cx="822960" cy="82296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38373A8D-559C-1453-BB33-B39878BFB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74DA15-EC8E-E01D-0D36-B30427E3B922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Venit lunar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si</a:t>
            </a:r>
            <a:r>
              <a:rPr lang="en-US" sz="36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766CE9-EAF9-EDF3-14D2-28ED4653E9A3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3.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064972-3A52-D1D3-E3E8-7CED6C4049DA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E1C2A-E633-0D85-6A67-3E5D606E0320}"/>
              </a:ext>
            </a:extLst>
          </p:cNvPr>
          <p:cNvSpPr txBox="1"/>
          <p:nvPr/>
        </p:nvSpPr>
        <p:spPr>
          <a:xfrm>
            <a:off x="5803900" y="3006001"/>
            <a:ext cx="63550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Total </a:t>
            </a:r>
            <a:r>
              <a:rPr lang="en-US" sz="2800" b="1" dirty="0" err="1">
                <a:solidFill>
                  <a:srgbClr val="FFF2CC"/>
                </a:solidFill>
                <a:latin typeface="Playfair Display" pitchFamily="2" charset="0"/>
              </a:rPr>
              <a:t>venituri</a:t>
            </a:r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 = 5.433.840 lei / an</a:t>
            </a:r>
            <a:endParaRPr lang="en-US" sz="2800" dirty="0">
              <a:solidFill>
                <a:srgbClr val="FFF2CC"/>
              </a:solidFill>
              <a:latin typeface="Playfair Display" pitchFamily="2" charset="0"/>
            </a:endParaRPr>
          </a:p>
          <a:p>
            <a:pPr algn="ctr"/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Profit = 1.941.840 lei / an</a:t>
            </a:r>
            <a:endParaRPr lang="en-US" sz="2800" dirty="0">
              <a:solidFill>
                <a:srgbClr val="FFF2CC"/>
              </a:solidFill>
              <a:latin typeface="Playfair Display" pitchFamily="2" charset="0"/>
            </a:endParaRPr>
          </a:p>
          <a:p>
            <a:pPr algn="ctr"/>
            <a:r>
              <a:rPr lang="en-US" sz="2800" b="1" dirty="0" err="1">
                <a:solidFill>
                  <a:srgbClr val="FFF2CC"/>
                </a:solidFill>
                <a:latin typeface="Playfair Display" pitchFamily="2" charset="0"/>
              </a:rPr>
              <a:t>Fiecare</a:t>
            </a:r>
            <a:r>
              <a:rPr lang="en-US" sz="2800" b="1" dirty="0">
                <a:solidFill>
                  <a:srgbClr val="FFF2CC"/>
                </a:solidFill>
                <a:latin typeface="Playfair Display" pitchFamily="2" charset="0"/>
              </a:rPr>
              <a:t> CEO = 388.368 lei / an</a:t>
            </a:r>
            <a:endParaRPr lang="en-US" sz="2800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9E6BE-7C70-4566-BEEC-99DC8391790F}"/>
              </a:ext>
            </a:extLst>
          </p:cNvPr>
          <p:cNvSpPr/>
          <p:nvPr/>
        </p:nvSpPr>
        <p:spPr>
          <a:xfrm>
            <a:off x="6543040" y="1411664"/>
            <a:ext cx="2468880" cy="539056"/>
          </a:xfrm>
          <a:prstGeom prst="rect">
            <a:avLst/>
          </a:prstGeom>
          <a:solidFill>
            <a:srgbClr val="2A1A0A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FC964-856D-9D9A-F532-D2C9E0DF5380}"/>
              </a:ext>
            </a:extLst>
          </p:cNvPr>
          <p:cNvSpPr txBox="1"/>
          <p:nvPr/>
        </p:nvSpPr>
        <p:spPr>
          <a:xfrm>
            <a:off x="-3644900" y="3244334"/>
            <a:ext cx="1099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EE15F2-2F2A-E412-5293-E5D868D371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599" y="4642861"/>
            <a:ext cx="2956602" cy="209172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5B433E5-471A-79E5-AB8D-081C01C53001}"/>
              </a:ext>
            </a:extLst>
          </p:cNvPr>
          <p:cNvSpPr txBox="1"/>
          <p:nvPr/>
        </p:nvSpPr>
        <p:spPr>
          <a:xfrm>
            <a:off x="3176662" y="4206330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noFill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Imagine</a:t>
            </a:r>
            <a:endParaRPr 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562333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3009A-EAD3-A721-D8F4-F69F6415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E1D3-7ECC-30D1-3CAE-1622D7C3F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56F10-0A9C-9B1C-D5C3-DC71E5205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4A1A8-EBA7-1BA4-7424-42F108353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376A899C-02A6-F273-57C0-9680F4EE892B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FEC40334-9922-0874-B28F-2D1462EE9686}"/>
              </a:ext>
            </a:extLst>
          </p:cNvPr>
          <p:cNvSpPr/>
          <p:nvPr/>
        </p:nvSpPr>
        <p:spPr>
          <a:xfrm rot="13672342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EF19E643-561F-0971-2663-8B945EC88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0643FB4A-8857-F867-00A1-B27B58195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2BB85F31-FE53-E371-0FB7-54F22F960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0118" y="3832989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C109DA3D-10BE-2B67-6D61-E3999700E7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822960" cy="82296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88BBA0B-322A-3EFD-1348-85B838A86600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Promovare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FE3430C-AE3B-D98C-E637-E46135A36574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4.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07FC0F-A04C-FAA1-BA18-ABC6AE56CD47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BDCD6-429D-3C6F-A692-04D3FA967D7F}"/>
              </a:ext>
            </a:extLst>
          </p:cNvPr>
          <p:cNvSpPr txBox="1"/>
          <p:nvPr/>
        </p:nvSpPr>
        <p:spPr>
          <a:xfrm>
            <a:off x="5864860" y="3036779"/>
            <a:ext cx="6355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Pentru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atrage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mulți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clienți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pentru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a face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magazinele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populare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decis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să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facă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numeroase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reclame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să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posteze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noutățile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pe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diferite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rețele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de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socializare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.</a:t>
            </a:r>
            <a:endParaRPr lang="en-US" sz="3200" dirty="0">
              <a:solidFill>
                <a:srgbClr val="FFF2CC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0200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E3166-2E07-B52D-5F50-808B045F9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79EC-5D81-C500-5E7B-A8FD30BE2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6B588-774E-698D-F5BD-BC6B7F90B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0D9FF7-8C40-CC30-7EB1-DCE33F743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4B99E577-5B9E-1969-034E-ADE5F4D8FBEF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C0AAAC39-A4F7-3658-8731-EB13A4B2882B}"/>
              </a:ext>
            </a:extLst>
          </p:cNvPr>
          <p:cNvSpPr/>
          <p:nvPr/>
        </p:nvSpPr>
        <p:spPr>
          <a:xfrm rot="13672342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69D982DF-DA56-AEAF-1373-B683665992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05EC6FE7-8C2A-A5A0-A45A-14879AB450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BF2F3039-5C9F-9293-C493-8DD4F4CCB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0118" y="3832989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8FFF168B-CA3F-80EE-AA9A-D4CFDDCF7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822960" cy="82296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FC4BF4E-DFC6-452D-9A86-2CF6CE4D26F6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Promovare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C17B00-489A-3D3C-977B-BE5FFCA2B8F2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4.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8A3B672-188F-B7BD-9DA5-00FE4EF94427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A40F3-D2AA-EAEB-B208-18F88A4C046D}"/>
              </a:ext>
            </a:extLst>
          </p:cNvPr>
          <p:cNvSpPr txBox="1"/>
          <p:nvPr/>
        </p:nvSpPr>
        <p:spPr>
          <a:xfrm>
            <a:off x="5864860" y="3036779"/>
            <a:ext cx="6355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De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asemenea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firma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colaborat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la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început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cu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influenceri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de un impact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mic,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iar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pe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parcurs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apelat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la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artiști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actori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internaționali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.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Unele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dintre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produse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firmei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au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fost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folosite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producția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filmelor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.</a:t>
            </a:r>
            <a:endParaRPr lang="en-US" sz="3600" dirty="0">
              <a:solidFill>
                <a:srgbClr val="FFF2CC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428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FCA72-6CF0-63E5-12F4-A317D7322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0B28-0BE4-C54A-1408-CBC58D85B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1C238-03B1-5E70-A194-6F95E45D0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9F17E-A686-92CB-74D4-1A5B9D3AE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BFEE25F0-5409-A37E-F302-0A34521FC4D7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58125FC2-D49A-325E-E7D3-A3F18E6775EF}"/>
              </a:ext>
            </a:extLst>
          </p:cNvPr>
          <p:cNvSpPr/>
          <p:nvPr/>
        </p:nvSpPr>
        <p:spPr>
          <a:xfrm rot="13672342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5F1AA3EB-0B54-4573-F45D-127328F2F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F78CDC5C-20D3-9504-50FD-C362386D9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C9EB51DF-2447-A21F-CC96-DF8256E0B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0118" y="3832989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86BFA57B-658D-8675-C4CE-A17662CB9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822960" cy="82296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13183E-19C9-9D42-1A26-3E738634C131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Promovare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B94E88-FEA7-768F-CA4E-B23590AB59D4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4.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684ACF-BCA5-E25B-1154-2B7CA62C94BD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6C77E-9337-58A9-1444-4A789046402B}"/>
              </a:ext>
            </a:extLst>
          </p:cNvPr>
          <p:cNvSpPr txBox="1"/>
          <p:nvPr/>
        </p:nvSpPr>
        <p:spPr>
          <a:xfrm>
            <a:off x="5915169" y="3283000"/>
            <a:ext cx="6355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Cele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mari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colaborări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au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fost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cu: Inna, Ion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Țiriac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Simona Halep.</a:t>
            </a:r>
            <a:endParaRPr lang="en-US" sz="4400" dirty="0">
              <a:solidFill>
                <a:srgbClr val="FFF2CC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204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5E0DA-1252-5536-304C-9F63D0434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D6CA-299C-3EBE-9B6E-72D3B9E82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03A87-15BD-81BF-1093-101E5B3B7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0239E-80A9-9558-A134-8555D0377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CA620B1B-70B5-45DB-F657-0AD9190F6E0A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E3385418-5E4B-C6D8-74EF-455D0BC0CD5F}"/>
              </a:ext>
            </a:extLst>
          </p:cNvPr>
          <p:cNvSpPr/>
          <p:nvPr/>
        </p:nvSpPr>
        <p:spPr>
          <a:xfrm rot="13672342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4E416911-5258-E38B-878C-B9DEEA8C3D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D81B186E-78AF-BFF3-B6C1-BC384DE10C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02EC6664-7728-5F6D-09DD-29499C7B59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0118" y="3832989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07B799FB-3F6C-89B4-722C-1DA9AE1826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822960" cy="82296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8A9A49-5302-000B-530F-3B70F1DD5160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Promovare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6714D1D-E201-53ED-96E3-79DAEF1827DF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4.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D69E375-1E61-C6D5-BF64-70647DE700DD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BCAD1-0ED8-491D-FB77-29D9EA57A59A}"/>
              </a:ext>
            </a:extLst>
          </p:cNvPr>
          <p:cNvSpPr txBox="1"/>
          <p:nvPr/>
        </p:nvSpPr>
        <p:spPr>
          <a:xfrm>
            <a:off x="5915169" y="3036779"/>
            <a:ext cx="6355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Firma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solicitat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suportul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altor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firme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cunoscute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cum sunt: Louis Vuitton, Gucci, Dior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Prada,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iar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colaborarea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cu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acestea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fost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semnificativă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în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ceea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ce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privește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veniturile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o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parte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 din </a:t>
            </a:r>
            <a:r>
              <a:rPr lang="en-US" sz="2000" b="1" dirty="0" err="1">
                <a:solidFill>
                  <a:srgbClr val="FFF2CC"/>
                </a:solidFill>
                <a:latin typeface="Playfair Display" pitchFamily="2" charset="0"/>
              </a:rPr>
              <a:t>cheltuieli</a:t>
            </a:r>
            <a:r>
              <a:rPr lang="en-US" sz="2000" b="1" dirty="0">
                <a:solidFill>
                  <a:srgbClr val="FFF2CC"/>
                </a:solidFill>
                <a:latin typeface="Playfair Display" pitchFamily="2" charset="0"/>
              </a:rPr>
              <a:t>.</a:t>
            </a:r>
            <a:endParaRPr lang="en-US" sz="4800" dirty="0">
              <a:solidFill>
                <a:srgbClr val="FFF2CC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234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5AF1E-ACCB-6F3D-F83B-27675F99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654D-D7B9-BE1D-9037-12B12F541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9E243-7235-DAC4-67C4-AA7923201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1B95B-366B-48A0-9658-234BC5D91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E468A181-93EF-95D9-92AF-6B629819D693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D31C73A6-C366-A2C8-1627-0AA491C60908}"/>
              </a:ext>
            </a:extLst>
          </p:cNvPr>
          <p:cNvSpPr/>
          <p:nvPr/>
        </p:nvSpPr>
        <p:spPr>
          <a:xfrm rot="13672342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D0947D66-E8D9-33D4-1964-B7C0CA2AF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47A6F79C-1FCA-0A30-C5E3-F59F68528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BDEFF022-7720-AA9C-494B-1D7702C39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0118" y="3832989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B9D2DF7F-4416-BED8-AFAF-9B0BDA3B9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14816"/>
            <a:ext cx="822960" cy="82296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824DE64-3CDA-BDB8-F636-0CF068B03B23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Promovare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2F820F-A51C-D163-63F4-C60483233973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4.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DC25A24-F03B-FFFD-1CBF-B1B829C72078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36366-6150-DE3C-89AB-205B49BD7715}"/>
              </a:ext>
            </a:extLst>
          </p:cNvPr>
          <p:cNvSpPr txBox="1"/>
          <p:nvPr/>
        </p:nvSpPr>
        <p:spPr>
          <a:xfrm>
            <a:off x="5915169" y="2913669"/>
            <a:ext cx="6355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Bineînțeles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pentru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face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firma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faimoasă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realizat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reclame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.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Acestea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sunt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distribuite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pe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diferite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canaluri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posturi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radio.</a:t>
            </a:r>
            <a:endParaRPr lang="en-US" sz="6000" dirty="0">
              <a:solidFill>
                <a:srgbClr val="FFF2CC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605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F9850-3A52-57E1-0602-52B8EF81C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4B05-F098-AA37-366A-70085675F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1C40C-421B-DCEA-6DD3-0B90948CC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C72EE-8CF4-10F9-EDCB-91790F5FA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383A1A5C-212F-070E-0B6E-068175B90E59}"/>
              </a:ext>
            </a:extLst>
          </p:cNvPr>
          <p:cNvSpPr/>
          <p:nvPr/>
        </p:nvSpPr>
        <p:spPr>
          <a:xfrm>
            <a:off x="-228600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ED07CFD3-8ACD-EA97-6955-9764A2847F40}"/>
              </a:ext>
            </a:extLst>
          </p:cNvPr>
          <p:cNvSpPr/>
          <p:nvPr/>
        </p:nvSpPr>
        <p:spPr>
          <a:xfrm rot="16200000">
            <a:off x="-228600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C657F105-CBFD-62C7-BB9E-277472910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477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786A7FFE-1731-6324-EEC1-8196938B2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518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C53600AD-39EF-B5C7-07E5-CB846B056F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0118" y="3832989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6C35374E-8538-3AAE-0293-4399F938D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477" y="474529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8E9CCF3-4106-9032-13A3-DFAB56EFE379}"/>
              </a:ext>
            </a:extLst>
          </p:cNvPr>
          <p:cNvSpPr/>
          <p:nvPr/>
        </p:nvSpPr>
        <p:spPr>
          <a:xfrm>
            <a:off x="524256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Promovare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58557B1-F20D-D3C8-DEC5-F27A00D734CF}"/>
              </a:ext>
            </a:extLst>
          </p:cNvPr>
          <p:cNvSpPr/>
          <p:nvPr/>
        </p:nvSpPr>
        <p:spPr>
          <a:xfrm>
            <a:off x="525272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4.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C3C7F43-2B22-7D8C-D2E5-8457D49E25E4}"/>
              </a:ext>
            </a:extLst>
          </p:cNvPr>
          <p:cNvSpPr/>
          <p:nvPr/>
        </p:nvSpPr>
        <p:spPr>
          <a:xfrm>
            <a:off x="524256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9E182-8095-F583-1D67-12140C0CFBC9}"/>
              </a:ext>
            </a:extLst>
          </p:cNvPr>
          <p:cNvSpPr txBox="1"/>
          <p:nvPr/>
        </p:nvSpPr>
        <p:spPr>
          <a:xfrm>
            <a:off x="5915169" y="2913669"/>
            <a:ext cx="6355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Bineînțeles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pentru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face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firma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faimoasă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realizat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reclame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.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Acestea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sunt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distribuite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pe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diferite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canaluri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posturi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radio.</a:t>
            </a:r>
            <a:endParaRPr lang="en-US" sz="6000" dirty="0">
              <a:solidFill>
                <a:srgbClr val="FFF2CC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957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B83CA-9D9F-DB30-9672-6B1C86E28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F6C7-11AA-C1DE-BFEF-BAB69FE25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A8FB5-339A-1E48-D146-57B266296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34044-1B4D-ECB4-377F-A4C3BD71F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053" y="0"/>
            <a:ext cx="1334947" cy="1334947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BC11AA1A-2EB3-7BC9-BF80-24C079EA6296}"/>
              </a:ext>
            </a:extLst>
          </p:cNvPr>
          <p:cNvSpPr/>
          <p:nvPr/>
        </p:nvSpPr>
        <p:spPr>
          <a:xfrm>
            <a:off x="-489712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942D04F2-2248-7F43-E072-407F13D7A6B5}"/>
              </a:ext>
            </a:extLst>
          </p:cNvPr>
          <p:cNvSpPr/>
          <p:nvPr/>
        </p:nvSpPr>
        <p:spPr>
          <a:xfrm rot="16200000">
            <a:off x="-489712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06F91A6D-31B0-B8C8-1677-D0B93031BF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48643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23945E1F-4541-1F97-BA15-6E47D0841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432602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B39A91F3-1885-D7CA-0AB3-D24F7C959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331002" y="3832989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79E84AF9-18C9-651D-CADB-FAA8A2271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48643" y="474529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D935F8D-75AB-ED4F-2421-906627F35C08}"/>
              </a:ext>
            </a:extLst>
          </p:cNvPr>
          <p:cNvSpPr/>
          <p:nvPr/>
        </p:nvSpPr>
        <p:spPr>
          <a:xfrm>
            <a:off x="1251712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Promovare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0096F0E-49E5-FDF2-889E-5937892559A0}"/>
              </a:ext>
            </a:extLst>
          </p:cNvPr>
          <p:cNvSpPr/>
          <p:nvPr/>
        </p:nvSpPr>
        <p:spPr>
          <a:xfrm>
            <a:off x="1252728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4.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6630BE-6C45-13CC-C0F0-876C5560F08C}"/>
              </a:ext>
            </a:extLst>
          </p:cNvPr>
          <p:cNvSpPr/>
          <p:nvPr/>
        </p:nvSpPr>
        <p:spPr>
          <a:xfrm>
            <a:off x="1251712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253D8-07B8-A1C6-A45A-AA993478E9DD}"/>
              </a:ext>
            </a:extLst>
          </p:cNvPr>
          <p:cNvSpPr txBox="1"/>
          <p:nvPr/>
        </p:nvSpPr>
        <p:spPr>
          <a:xfrm>
            <a:off x="13189729" y="2913669"/>
            <a:ext cx="6355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Bineînțeles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pentru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face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firma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faimoasă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realizat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reclame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.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Acestea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sunt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distribuite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pe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diferite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canaluri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posturi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radio.</a:t>
            </a:r>
            <a:endParaRPr lang="en-US" sz="6000" dirty="0">
              <a:solidFill>
                <a:srgbClr val="FFF2CC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818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66139-EA6C-84B9-0887-5FE92020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4A86-03A9-EAFE-1797-289427423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5CB0A-8D72-D6B2-2AA6-0B12F1780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7DAEB-1FB7-8320-A784-B7353E1C0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-1"/>
            <a:ext cx="6858000" cy="6858000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77575AF9-253F-3B2F-ED7E-66BD251BB21B}"/>
              </a:ext>
            </a:extLst>
          </p:cNvPr>
          <p:cNvSpPr/>
          <p:nvPr/>
        </p:nvSpPr>
        <p:spPr>
          <a:xfrm>
            <a:off x="-489712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CEA3DA71-5BC2-4B3C-B235-09CE9458B5CE}"/>
              </a:ext>
            </a:extLst>
          </p:cNvPr>
          <p:cNvSpPr/>
          <p:nvPr/>
        </p:nvSpPr>
        <p:spPr>
          <a:xfrm rot="16200000">
            <a:off x="-489712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75D5475E-4B9A-0F78-4BE5-00BB48EBF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48643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FC1FCEE8-759A-32D8-D953-45FD2B809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432602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842A6EE5-6D7B-C99F-1FCD-90FC66EFD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331002" y="3832989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517E3B23-0BEA-B44B-3765-0E5F39C4C0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48643" y="474529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3CF9BA0-D20D-4C89-E238-441E837B7B9B}"/>
              </a:ext>
            </a:extLst>
          </p:cNvPr>
          <p:cNvSpPr/>
          <p:nvPr/>
        </p:nvSpPr>
        <p:spPr>
          <a:xfrm>
            <a:off x="1251712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Promovare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08EDE7F-94B3-7BA3-3CCA-06DEE588B50E}"/>
              </a:ext>
            </a:extLst>
          </p:cNvPr>
          <p:cNvSpPr/>
          <p:nvPr/>
        </p:nvSpPr>
        <p:spPr>
          <a:xfrm>
            <a:off x="1252728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4.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0AC4A0-5B78-F19F-6CE8-29B3DA6684EF}"/>
              </a:ext>
            </a:extLst>
          </p:cNvPr>
          <p:cNvSpPr/>
          <p:nvPr/>
        </p:nvSpPr>
        <p:spPr>
          <a:xfrm>
            <a:off x="1251712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5194E-F0F1-443C-98FB-95AE74B33F42}"/>
              </a:ext>
            </a:extLst>
          </p:cNvPr>
          <p:cNvSpPr txBox="1"/>
          <p:nvPr/>
        </p:nvSpPr>
        <p:spPr>
          <a:xfrm>
            <a:off x="13189729" y="2913669"/>
            <a:ext cx="6355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Bineînțeles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pentru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face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firma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faimoasă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realizat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reclame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.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Acestea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sunt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distribuite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pe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diferite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canaluri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posturi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radio.</a:t>
            </a:r>
            <a:endParaRPr lang="en-US" sz="6000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02080-7D50-D022-9A0E-3D67A765C6DC}"/>
              </a:ext>
            </a:extLst>
          </p:cNvPr>
          <p:cNvSpPr txBox="1"/>
          <p:nvPr/>
        </p:nvSpPr>
        <p:spPr>
          <a:xfrm>
            <a:off x="2318363" y="7229454"/>
            <a:ext cx="7555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2CC"/>
                </a:solidFill>
                <a:latin typeface="Playfair Display" pitchFamily="2" charset="0"/>
              </a:rPr>
              <a:t>© 2026 </a:t>
            </a:r>
            <a:r>
              <a:rPr lang="en-US" sz="2400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sz="2400" dirty="0">
                <a:solidFill>
                  <a:srgbClr val="FFF2CC"/>
                </a:solidFill>
                <a:latin typeface="Playfair Display" pitchFamily="2" charset="0"/>
              </a:rPr>
              <a:t> · Handcrafted with love in Romania</a:t>
            </a:r>
            <a:endParaRPr lang="en-US" sz="2400" b="0" dirty="0">
              <a:solidFill>
                <a:srgbClr val="FFF2CC"/>
              </a:solidFill>
              <a:effectLst/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119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8A6FA-2F29-DB59-2362-6030C210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C838-9412-F87B-0F50-C03DC8FAA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0" y="1310899"/>
            <a:ext cx="9144000" cy="2387600"/>
          </a:xfrm>
        </p:spPr>
        <p:txBody>
          <a:bodyPr/>
          <a:lstStyle/>
          <a:p>
            <a:r>
              <a:rPr lang="en-US" sz="8000" b="1" dirty="0" err="1">
                <a:solidFill>
                  <a:srgbClr val="2A1A0A"/>
                </a:solidFill>
                <a:latin typeface="Playfair Display" pitchFamily="2" charset="0"/>
              </a:rPr>
              <a:t>VestaBags</a:t>
            </a:r>
            <a:endParaRPr lang="en-US" dirty="0">
              <a:solidFill>
                <a:srgbClr val="2A1A0A"/>
              </a:solidFill>
              <a:latin typeface="Playfair Display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23CA-B6AF-232F-9672-60A28695E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79057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Marii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Antreprenori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.</a:t>
            </a:r>
          </a:p>
          <a:p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Proiect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2026</a:t>
            </a:r>
          </a:p>
          <a:p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Cocos Darius, Dragnea Diana, </a:t>
            </a:r>
            <a:r>
              <a:rPr lang="en-US" dirty="0" err="1">
                <a:solidFill>
                  <a:srgbClr val="2A1A0A"/>
                </a:solidFill>
                <a:latin typeface="Playfair Display" pitchFamily="2" charset="0"/>
              </a:rPr>
              <a:t>Mitrana</a:t>
            </a:r>
            <a:r>
              <a:rPr lang="en-US" dirty="0">
                <a:solidFill>
                  <a:srgbClr val="2A1A0A"/>
                </a:solidFill>
                <a:latin typeface="Playfair Display" pitchFamily="2" charset="0"/>
              </a:rPr>
              <a:t> Sofia, Niculescu Izabela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FD814-3B7E-E8EA-465D-62F59BAA5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98" y="-15241"/>
            <a:ext cx="5715001" cy="5715001"/>
          </a:xfrm>
          <a:prstGeom prst="rect">
            <a:avLst/>
          </a:prstGeom>
        </p:spPr>
      </p:pic>
      <p:sp>
        <p:nvSpPr>
          <p:cNvPr id="4" name="Circle: Hollow 3">
            <a:extLst>
              <a:ext uri="{FF2B5EF4-FFF2-40B4-BE49-F238E27FC236}">
                <a16:creationId xmlns:a16="http://schemas.microsoft.com/office/drawing/2014/main" id="{291F19BB-40EC-E23B-6F27-898C0D9A2712}"/>
              </a:ext>
            </a:extLst>
          </p:cNvPr>
          <p:cNvSpPr/>
          <p:nvPr/>
        </p:nvSpPr>
        <p:spPr>
          <a:xfrm>
            <a:off x="-4897120" y="1143000"/>
            <a:ext cx="4572000" cy="4572000"/>
          </a:xfrm>
          <a:prstGeom prst="donut">
            <a:avLst>
              <a:gd name="adj" fmla="val 20637"/>
            </a:avLst>
          </a:prstGeom>
          <a:gradFill flip="none" rotWithShape="1">
            <a:gsLst>
              <a:gs pos="0">
                <a:srgbClr val="6C3F12"/>
              </a:gs>
              <a:gs pos="100000">
                <a:srgbClr val="2A1A0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B8F535BE-C9DB-5496-AFEB-9EBF5C637E26}"/>
              </a:ext>
            </a:extLst>
          </p:cNvPr>
          <p:cNvSpPr/>
          <p:nvPr/>
        </p:nvSpPr>
        <p:spPr>
          <a:xfrm rot="16200000">
            <a:off x="-4897120" y="1143000"/>
            <a:ext cx="4572000" cy="4572000"/>
          </a:xfrm>
          <a:prstGeom prst="blockArc">
            <a:avLst>
              <a:gd name="adj1" fmla="val 11106006"/>
              <a:gd name="adj2" fmla="val 13312734"/>
              <a:gd name="adj3" fmla="val 24522"/>
            </a:avLst>
          </a:prstGeom>
          <a:solidFill>
            <a:srgbClr val="A4540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Graphic 10" descr="Statistics">
            <a:extLst>
              <a:ext uri="{FF2B5EF4-FFF2-40B4-BE49-F238E27FC236}">
                <a16:creationId xmlns:a16="http://schemas.microsoft.com/office/drawing/2014/main" id="{CF652554-3950-FFCD-52B6-42BE67864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48643" y="1310899"/>
            <a:ext cx="731520" cy="731520"/>
          </a:xfrm>
          <a:prstGeom prst="rect">
            <a:avLst/>
          </a:prstGeom>
        </p:spPr>
      </p:pic>
      <p:pic>
        <p:nvPicPr>
          <p:cNvPr id="13" name="Graphic 12" descr="Map with pin">
            <a:extLst>
              <a:ext uri="{FF2B5EF4-FFF2-40B4-BE49-F238E27FC236}">
                <a16:creationId xmlns:a16="http://schemas.microsoft.com/office/drawing/2014/main" id="{3AB6B54A-C9CC-CA83-3307-6DFC57C7FC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432602" y="2042419"/>
            <a:ext cx="731520" cy="731520"/>
          </a:xfrm>
          <a:prstGeom prst="rect">
            <a:avLst/>
          </a:prstGeom>
        </p:spPr>
      </p:pic>
      <p:pic>
        <p:nvPicPr>
          <p:cNvPr id="15" name="Graphic 14" descr="Presentation with bar chart">
            <a:extLst>
              <a:ext uri="{FF2B5EF4-FFF2-40B4-BE49-F238E27FC236}">
                <a16:creationId xmlns:a16="http://schemas.microsoft.com/office/drawing/2014/main" id="{29EDA7A3-BBF1-A796-E89D-AAA8E8996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331002" y="3832989"/>
            <a:ext cx="731520" cy="731520"/>
          </a:xfrm>
          <a:prstGeom prst="rect">
            <a:avLst/>
          </a:prstGeom>
        </p:spPr>
      </p:pic>
      <p:pic>
        <p:nvPicPr>
          <p:cNvPr id="17" name="Graphic 16" descr="Bar chart">
            <a:extLst>
              <a:ext uri="{FF2B5EF4-FFF2-40B4-BE49-F238E27FC236}">
                <a16:creationId xmlns:a16="http://schemas.microsoft.com/office/drawing/2014/main" id="{8C982568-4EF9-A89B-8B8E-A8E9C9D34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48643" y="4745296"/>
            <a:ext cx="731520" cy="73152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C4706C8-4FCC-7CED-4AB8-23FE0082AF2A}"/>
              </a:ext>
            </a:extLst>
          </p:cNvPr>
          <p:cNvSpPr/>
          <p:nvPr/>
        </p:nvSpPr>
        <p:spPr>
          <a:xfrm>
            <a:off x="12517120" y="1147763"/>
            <a:ext cx="7599680" cy="1067376"/>
          </a:xfrm>
          <a:prstGeom prst="roundRect">
            <a:avLst>
              <a:gd name="adj" fmla="val 50000"/>
            </a:avLst>
          </a:prstGeom>
          <a:solidFill>
            <a:srgbClr val="6B3E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FFF2CC"/>
                </a:solidFill>
                <a:latin typeface="Playfair Display" pitchFamily="2" charset="0"/>
              </a:rPr>
              <a:t>Promovare</a:t>
            </a:r>
            <a:endParaRPr lang="en-US" sz="1400" b="1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F785B3-FB2D-FD1B-834F-60C4BB5F5867}"/>
              </a:ext>
            </a:extLst>
          </p:cNvPr>
          <p:cNvSpPr/>
          <p:nvPr/>
        </p:nvSpPr>
        <p:spPr>
          <a:xfrm>
            <a:off x="12527280" y="1147763"/>
            <a:ext cx="1069848" cy="1067376"/>
          </a:xfrm>
          <a:prstGeom prst="ellipse">
            <a:avLst/>
          </a:prstGeom>
          <a:solidFill>
            <a:srgbClr val="603810"/>
          </a:solidFill>
          <a:ln>
            <a:solidFill>
              <a:srgbClr val="FFF2CC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Playfair Display" pitchFamily="2" charset="0"/>
              </a:rPr>
              <a:t>4.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1232B7-2544-9380-3D13-6DAAD4C04BDF}"/>
              </a:ext>
            </a:extLst>
          </p:cNvPr>
          <p:cNvSpPr/>
          <p:nvPr/>
        </p:nvSpPr>
        <p:spPr>
          <a:xfrm>
            <a:off x="12517120" y="2403099"/>
            <a:ext cx="7477760" cy="2590800"/>
          </a:xfrm>
          <a:prstGeom prst="roundRect">
            <a:avLst/>
          </a:prstGeom>
          <a:solidFill>
            <a:srgbClr val="6C3F12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C7569-A5C4-0A9B-8728-5893385CB1D1}"/>
              </a:ext>
            </a:extLst>
          </p:cNvPr>
          <p:cNvSpPr txBox="1"/>
          <p:nvPr/>
        </p:nvSpPr>
        <p:spPr>
          <a:xfrm>
            <a:off x="13189729" y="2913669"/>
            <a:ext cx="6355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Bineînțeles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pentru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face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firma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mai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faimoasă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a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realizat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reclame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.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Acestea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sunt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distribuite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pe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diferite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canaluri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și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</a:t>
            </a:r>
            <a:r>
              <a:rPr lang="en-US" sz="2400" b="1" dirty="0" err="1">
                <a:solidFill>
                  <a:srgbClr val="FFF2CC"/>
                </a:solidFill>
                <a:latin typeface="Playfair Display" pitchFamily="2" charset="0"/>
              </a:rPr>
              <a:t>posturi</a:t>
            </a:r>
            <a:r>
              <a:rPr lang="en-US" sz="2400" b="1" dirty="0">
                <a:solidFill>
                  <a:srgbClr val="FFF2CC"/>
                </a:solidFill>
                <a:latin typeface="Playfair Display" pitchFamily="2" charset="0"/>
              </a:rPr>
              <a:t> radio.</a:t>
            </a:r>
            <a:endParaRPr lang="en-US" sz="6000" dirty="0">
              <a:solidFill>
                <a:srgbClr val="FFF2CC"/>
              </a:solidFill>
              <a:latin typeface="Playfair Display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BE0BE-8480-45C7-B12E-17AB32A61BC9}"/>
              </a:ext>
            </a:extLst>
          </p:cNvPr>
          <p:cNvSpPr txBox="1"/>
          <p:nvPr/>
        </p:nvSpPr>
        <p:spPr>
          <a:xfrm>
            <a:off x="2318363" y="5522574"/>
            <a:ext cx="7555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2CC"/>
                </a:solidFill>
                <a:latin typeface="Playfair Display" pitchFamily="2" charset="0"/>
              </a:rPr>
              <a:t>© 2026 </a:t>
            </a:r>
            <a:r>
              <a:rPr lang="en-US" sz="2400" dirty="0" err="1">
                <a:solidFill>
                  <a:srgbClr val="FFF2CC"/>
                </a:solidFill>
                <a:latin typeface="Playfair Display" pitchFamily="2" charset="0"/>
              </a:rPr>
              <a:t>VestaBags</a:t>
            </a:r>
            <a:r>
              <a:rPr lang="en-US" sz="2400" dirty="0">
                <a:solidFill>
                  <a:srgbClr val="FFF2CC"/>
                </a:solidFill>
                <a:latin typeface="Playfair Display" pitchFamily="2" charset="0"/>
              </a:rPr>
              <a:t> · Handcrafted with love in Romania</a:t>
            </a:r>
            <a:endParaRPr lang="en-US" sz="2400" b="0" dirty="0">
              <a:solidFill>
                <a:srgbClr val="FFF2CC"/>
              </a:solidFill>
              <a:effectLst/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062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500" advClick="0" advTm="2000">
        <p159:morph option="byObject"/>
      </p:transition>
    </mc:Choice>
    <mc:Fallback>
      <p:transition spd="slow" advClick="0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1239</Words>
  <Application>Microsoft Office PowerPoint</Application>
  <PresentationFormat>Widescreen</PresentationFormat>
  <Paragraphs>179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Playfair Display</vt:lpstr>
      <vt:lpstr>Office Theme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  <vt:lpstr>VestaBags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Darius Cocos</dc:creator>
  <cp:lastModifiedBy>Darius Cocos</cp:lastModifiedBy>
  <cp:revision>1</cp:revision>
  <dcterms:created xsi:type="dcterms:W3CDTF">2026-06-14T13:52:20Z</dcterms:created>
  <dcterms:modified xsi:type="dcterms:W3CDTF">2026-06-14T15:58:19Z</dcterms:modified>
</cp:coreProperties>
</file>